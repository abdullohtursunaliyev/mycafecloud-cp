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5359801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 err="1"/>
              <a:t>MyCafeCloud</a:t>
            </a:r>
            <a:endParaRPr dirty="0"/>
          </a:p>
          <a:p>
            <a:pPr>
              <a:defRPr sz="1600">
                <a:solidFill>
                  <a:srgbClr val="F1F5F9"/>
                </a:solidFill>
              </a:defRPr>
            </a:pPr>
            <a:r>
              <a:rPr dirty="0" err="1"/>
              <a:t>Kompyuter</a:t>
            </a:r>
            <a:r>
              <a:rPr dirty="0"/>
              <a:t> </a:t>
            </a:r>
            <a:r>
              <a:rPr dirty="0" err="1"/>
              <a:t>klublar</a:t>
            </a:r>
            <a:r>
              <a:rPr dirty="0"/>
              <a:t> </a:t>
            </a:r>
            <a:r>
              <a:rPr dirty="0" err="1"/>
              <a:t>va</a:t>
            </a:r>
            <a:r>
              <a:rPr dirty="0"/>
              <a:t> cyber arena </a:t>
            </a:r>
            <a:r>
              <a:rPr dirty="0" err="1"/>
              <a:t>uchun</a:t>
            </a:r>
            <a:r>
              <a:rPr dirty="0"/>
              <a:t> </a:t>
            </a:r>
            <a:r>
              <a:rPr dirty="0" err="1"/>
              <a:t>operatsion</a:t>
            </a:r>
            <a:r>
              <a:rPr dirty="0"/>
              <a:t> </a:t>
            </a:r>
            <a:r>
              <a:rPr dirty="0" err="1"/>
              <a:t>platforma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731520" y="3931920"/>
            <a:ext cx="1645920" cy="411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Billing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87168" y="3931920"/>
            <a:ext cx="1645920" cy="411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Booking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42816" y="3931920"/>
            <a:ext cx="1645920" cy="411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PC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98464" y="3931920"/>
            <a:ext cx="1645920" cy="411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Install center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54112" y="3931920"/>
            <a:ext cx="1645920" cy="411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Muammo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Klub egasi va operator uchun asosiy og'riqlar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5394960" cy="4389120"/>
          </a:xfrm>
          <a:prstGeom prst="roundRect">
            <a:avLst/>
          </a:prstGeom>
          <a:solidFill>
            <a:srgbClr val="F1F5F9"/>
          </a:solidFill>
          <a:ln w="1397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Bozordagi og'riq nuqtalari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Kassa, sessiya, bron va mijoz hisobi ko'pincha uzilgan.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Operator xatolari va qo'lda boshqaruv daromad yo'qotishiga olib keladi.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PClarga shell/game rollout va yangilash sekin va riskli.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Owner uchun real vaqt nazorat va audit trail zaif.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280160"/>
            <a:ext cx="5394960" cy="4389120"/>
          </a:xfrm>
          <a:prstGeom prst="roundRect">
            <a:avLst/>
          </a:prstGeom>
          <a:solidFill>
            <a:srgbClr val="F1F5F9"/>
          </a:solidFill>
          <a:ln w="1397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Nega bu dolzarb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Cyber arena bozori raqobatlashmoqda va marja boshqaruvi muhimlashmoqda.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Klub soni oshgani sari standart operatsion qatlam zarur bo'ladi.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Owner tez qaror qabul qilishi uchun bitta source of truth kerak.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Yechim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MyCafeCloud klubni boshqarishning to'liq operatsion tizimini beradi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2697480" cy="137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OPERATOR PANEL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Tayyor modul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Mijoz, PC, booking, shift, refund va transfer oqimlari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66160" y="1554480"/>
            <a:ext cx="2697480" cy="137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000" b="1">
                <a:solidFill>
                  <a:srgbClr val="3B82F6"/>
                </a:solidFill>
              </a:defRPr>
            </a:pPr>
            <a:r>
              <a:t>PC AGENT + ROLLOUT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Tayyor modul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Install center, pair code, bulk rollout va shell deploy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54680"/>
            <a:ext cx="2697480" cy="137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BILLING ENGINE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Tayyor modul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Minutlik billing, paket, obuna, bonus va refund logikasi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3154680"/>
            <a:ext cx="2697480" cy="137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000" b="1">
                <a:solidFill>
                  <a:srgbClr val="3B82F6"/>
                </a:solidFill>
              </a:defRPr>
            </a:pPr>
            <a:r>
              <a:t>OWNER ANALYTICS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Tayyor modul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Reports, compare, autopilot, exchange va performance ko'rinishi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Mahsulot modullari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Hozirgi product readiness va modul qamrovi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3657600" cy="4754880"/>
          </a:xfrm>
          <a:prstGeom prst="roundRect">
            <a:avLst/>
          </a:prstGeom>
          <a:solidFill>
            <a:srgbClr val="F1F5F9"/>
          </a:solidFill>
          <a:ln w="1397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Frontline operations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Dashboard, PC grid, bookings, clients, topup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Paket va obuna savdosi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Shift, shift history, returns, transfers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26280" y="1280160"/>
            <a:ext cx="3657600" cy="4754880"/>
          </a:xfrm>
          <a:prstGeom prst="roundRect">
            <a:avLst/>
          </a:prstGeom>
          <a:solidFill>
            <a:srgbClr val="F1F5F9"/>
          </a:solidFill>
          <a:ln w="13970">
            <a:solidFill>
              <a:srgbClr val="0E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Deployment &amp; shell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Install center, pair codes, rollout batch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Shell game catalog va PC install state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Promo video va shell settings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1280160"/>
            <a:ext cx="3154680" cy="4754880"/>
          </a:xfrm>
          <a:prstGeom prst="roundRect">
            <a:avLst/>
          </a:prstGeom>
          <a:solidFill>
            <a:srgbClr val="F1F5F9"/>
          </a:solidFill>
          <a:ln w="1397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Owner &amp; analytics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Reports, AI autopilot, exchange, compare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Billing logs va audit trail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Settings, promotions, zones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Nega MyCafeCloud yutadi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Maqsadli segment uchun chuqur mahsulot ustunligi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297680"/>
          </a:xfrm>
          <a:prstGeom prst="roundRect">
            <a:avLst/>
          </a:prstGeom>
          <a:solidFill>
            <a:srgbClr val="F1F5F9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Raqobat ustunligi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Generic POS emas: aynan computer club va cyber arena oqimlariga moslashgan.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Billing, booking, PC agent va owner analytics bir platformada.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Install center va shell catalog deployment jarayonini tezlashtiradi.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Operator uchun amaliy UX, owner uchun boshqaruv ko'rinishi va audit trail mavjud.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Nuxt 4 frontend va Laravel backend asosida iteratsiya tezligi yuqori.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Biznes modeli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SaaS va xizmat daromadlari kombinatsiyasi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2651760" cy="137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000" b="1">
                <a:solidFill>
                  <a:srgbClr val="3B82F6"/>
                </a:solidFill>
              </a:defRPr>
            </a:pPr>
            <a:r>
              <a:t>OYLIK SAAS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1 900 000 UZS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Klub / filial uchun bazaviy abonent to'lovi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66160" y="1554480"/>
            <a:ext cx="2651760" cy="137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SETUP/ONBOARDING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5 000 000 UZS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Bir martalik ishga tushirish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554480"/>
            <a:ext cx="2651760" cy="137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000" b="1">
                <a:solidFill>
                  <a:srgbClr val="3B82F6"/>
                </a:solidFill>
              </a:defRPr>
            </a:pPr>
            <a:r>
              <a:t>PREMIUM ANALYTICS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600 000 UZS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Qo'shimcha owner analytics/autopilot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5440" y="1554480"/>
            <a:ext cx="2651760" cy="137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PREMIUM ATTACH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25%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Faol klublarning premium ulushi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10789920" cy="2103120"/>
          </a:xfrm>
          <a:prstGeom prst="roundRect">
            <a:avLst/>
          </a:prstGeom>
          <a:solidFill>
            <a:srgbClr val="F1F5F9"/>
          </a:solidFill>
          <a:ln w="13970">
            <a:solidFill>
              <a:srgbClr val="0E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Upsell yo'nalishlari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Ko'p filialli owner dashboards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Premium reports va AI autopilot tavsiyalari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Deployment / white-glove onboarding va support paketlari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Go-to-market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Bosqichma-bosqich bozorga chiqish strategiyasi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474720" cy="4389120"/>
          </a:xfrm>
          <a:prstGeom prst="roundRect">
            <a:avLst/>
          </a:prstGeom>
          <a:solidFill>
            <a:srgbClr val="F1F5F9"/>
          </a:solidFill>
          <a:ln w="1397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1-bosqich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O'zbekiston bozorida owner-led sales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Pilot klub + referral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Onboarding va deployment orqali tez qiymat ko'rsatish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463040"/>
            <a:ext cx="3474720" cy="4389120"/>
          </a:xfrm>
          <a:prstGeom prst="roundRect">
            <a:avLst/>
          </a:prstGeom>
          <a:solidFill>
            <a:srgbClr val="F1F5F9"/>
          </a:solidFill>
          <a:ln w="13970">
            <a:solidFill>
              <a:srgbClr val="0E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2-bosqich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Ko'p filialli operatorlar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Partner integratorlar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Qo'shni bozorlar va rus tilida ishlaydigan segmentlar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63040"/>
            <a:ext cx="3474720" cy="4389120"/>
          </a:xfrm>
          <a:prstGeom prst="roundRect">
            <a:avLst/>
          </a:prstGeom>
          <a:solidFill>
            <a:srgbClr val="F1F5F9"/>
          </a:solidFill>
          <a:ln w="1397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3-bosqich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Premium analytics va autopilot monetizatsiyasi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Enterprise / white-label opsiyalari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Regional expansion va recurring revenue scaling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3 yillik moliyaviy ko'rinish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Baza ssenariy bo'yicha ishchi farazlar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474720" cy="1234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000" b="1">
                <a:solidFill>
                  <a:srgbClr val="3B82F6"/>
                </a:solidFill>
              </a:defRPr>
            </a:pPr>
            <a:r>
              <a:t>1-YIL DAROMAD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846 050 000 UZS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54 faol klub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34840" y="1554480"/>
            <a:ext cx="3474720" cy="1234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E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000" b="1">
                <a:solidFill>
                  <a:srgbClr val="0EA5A6"/>
                </a:solidFill>
              </a:defRPr>
            </a:pPr>
            <a:r>
              <a:t>2-YIL DAROMAD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3 331 900 000 UZS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167 faol klub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554480"/>
            <a:ext cx="3474720" cy="1234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000" b="1">
                <a:solidFill>
                  <a:srgbClr val="3B82F6"/>
                </a:solidFill>
              </a:defRPr>
            </a:pPr>
            <a:r>
              <a:t>3-YIL DAROMAD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7 249 550 000 UZS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337 faol klub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3474720" cy="1234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E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000" b="1">
                <a:solidFill>
                  <a:srgbClr val="0EA5A6"/>
                </a:solidFill>
              </a:defRPr>
            </a:pPr>
            <a:r>
              <a:t>3-YIL </a:t>
            </a:r>
            <a:r>
              <a:rPr dirty="0"/>
              <a:t>MRR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rPr dirty="0"/>
              <a:t>690 850 000 UZS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rPr dirty="0"/>
              <a:t>Recurring subscription + premium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3017520"/>
            <a:ext cx="3474720" cy="1234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000" b="1">
                <a:solidFill>
                  <a:srgbClr val="3B82F6"/>
                </a:solidFill>
              </a:defRPr>
            </a:pPr>
            <a:r>
              <a:t>3-YIL EBITDA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4 385 057 096 UZS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Baza ssenariy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3017520"/>
            <a:ext cx="3474720" cy="1234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E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000" b="1">
                <a:solidFill>
                  <a:srgbClr val="0EA5A6"/>
                </a:solidFill>
              </a:defRPr>
            </a:pPr>
            <a:r>
              <a:rPr dirty="0"/>
              <a:t>SEED ROUND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rPr lang="en-US" dirty="0"/>
              <a:t>25 000</a:t>
            </a:r>
            <a:r>
              <a:rPr dirty="0"/>
              <a:t> USD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rPr dirty="0" err="1"/>
              <a:t>Dastlabki</a:t>
            </a:r>
            <a:r>
              <a:rPr dirty="0"/>
              <a:t> </a:t>
            </a:r>
            <a:r>
              <a:rPr dirty="0" err="1"/>
              <a:t>ishchi</a:t>
            </a:r>
            <a:r>
              <a:rPr dirty="0"/>
              <a:t> </a:t>
            </a:r>
            <a:r>
              <a:rPr dirty="0" err="1"/>
              <a:t>so'rov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Investitsiya so'rovi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Seed round va mablag' ishlatilishi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303520" cy="4389120"/>
          </a:xfrm>
          <a:prstGeom prst="roundRect">
            <a:avLst/>
          </a:prstGeom>
          <a:solidFill>
            <a:srgbClr val="F1F5F9"/>
          </a:solidFill>
          <a:ln w="1397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rPr dirty="0" err="1"/>
              <a:t>Dastlabki</a:t>
            </a:r>
            <a:r>
              <a:rPr dirty="0"/>
              <a:t> </a:t>
            </a:r>
            <a:r>
              <a:rPr dirty="0" err="1"/>
              <a:t>ishchi</a:t>
            </a:r>
            <a:r>
              <a:rPr dirty="0"/>
              <a:t> </a:t>
            </a:r>
            <a:r>
              <a:rPr dirty="0" err="1"/>
              <a:t>so'rov</a:t>
            </a:r>
            <a:endParaRPr dirty="0"/>
          </a:p>
          <a:p>
            <a:pPr>
              <a:defRPr sz="1100">
                <a:solidFill>
                  <a:srgbClr val="64748B"/>
                </a:solidFill>
              </a:defRPr>
            </a:pPr>
            <a:r>
              <a:rPr lang="en-US" dirty="0"/>
              <a:t>25 000</a:t>
            </a:r>
            <a:r>
              <a:rPr dirty="0"/>
              <a:t> USD </a:t>
            </a:r>
            <a:r>
              <a:rPr dirty="0" err="1"/>
              <a:t>ekvivalent</a:t>
            </a:r>
            <a:r>
              <a:rPr dirty="0"/>
              <a:t> seed round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rPr dirty="0"/>
              <a:t>18 </a:t>
            </a:r>
            <a:r>
              <a:rPr dirty="0" err="1"/>
              <a:t>oylik</a:t>
            </a:r>
            <a:r>
              <a:rPr dirty="0"/>
              <a:t> runway </a:t>
            </a:r>
            <a:r>
              <a:rPr dirty="0" err="1"/>
              <a:t>maqsadi</a:t>
            </a:r>
            <a:endParaRPr dirty="0"/>
          </a:p>
          <a:p>
            <a:pPr>
              <a:defRPr sz="1100">
                <a:solidFill>
                  <a:srgbClr val="64748B"/>
                </a:solidFill>
              </a:defRPr>
            </a:pPr>
            <a:r>
              <a:rPr dirty="0" err="1"/>
              <a:t>Mahsulot</a:t>
            </a:r>
            <a:r>
              <a:rPr dirty="0"/>
              <a:t>, sales, onboarding </a:t>
            </a:r>
            <a:r>
              <a:rPr dirty="0" err="1"/>
              <a:t>va</a:t>
            </a:r>
            <a:r>
              <a:rPr dirty="0"/>
              <a:t> </a:t>
            </a:r>
            <a:r>
              <a:rPr dirty="0" err="1"/>
              <a:t>supportni</a:t>
            </a:r>
            <a:r>
              <a:rPr dirty="0"/>
              <a:t> </a:t>
            </a:r>
            <a:r>
              <a:rPr dirty="0" err="1"/>
              <a:t>tezlashtirish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6217920" y="1554480"/>
            <a:ext cx="5303520" cy="4389120"/>
          </a:xfrm>
          <a:prstGeom prst="roundRect">
            <a:avLst/>
          </a:prstGeom>
          <a:solidFill>
            <a:srgbClr val="F1F5F9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Use of funds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45% - product va engineering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25% - sales va growth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15% - onboarding / deployment ops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10% - support va customer success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5% - zaxira va huquqiy xarajatlar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641996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 err="1"/>
              <a:t>MyCafeCloud</a:t>
            </a:r>
            <a:endParaRPr dirty="0"/>
          </a:p>
          <a:p>
            <a:pPr>
              <a:defRPr sz="1600">
                <a:solidFill>
                  <a:srgbClr val="F1F5F9"/>
                </a:solidFill>
              </a:defRPr>
            </a:pPr>
            <a:r>
              <a:rPr dirty="0" err="1"/>
              <a:t>Klubni</a:t>
            </a:r>
            <a:r>
              <a:rPr dirty="0"/>
              <a:t> </a:t>
            </a:r>
            <a:r>
              <a:rPr dirty="0" err="1"/>
              <a:t>boshqarish</a:t>
            </a:r>
            <a:r>
              <a:rPr dirty="0"/>
              <a:t>, </a:t>
            </a:r>
            <a:r>
              <a:rPr dirty="0" err="1"/>
              <a:t>monetizatsiya</a:t>
            </a:r>
            <a:r>
              <a:rPr dirty="0"/>
              <a:t> </a:t>
            </a:r>
            <a:r>
              <a:rPr dirty="0" err="1"/>
              <a:t>va</a:t>
            </a:r>
            <a:r>
              <a:rPr dirty="0"/>
              <a:t> </a:t>
            </a:r>
            <a:r>
              <a:rPr dirty="0" err="1"/>
              <a:t>kengayishni</a:t>
            </a:r>
            <a:r>
              <a:rPr dirty="0"/>
              <a:t> </a:t>
            </a:r>
            <a:r>
              <a:rPr dirty="0" err="1"/>
              <a:t>bitta</a:t>
            </a:r>
            <a:r>
              <a:rPr dirty="0"/>
              <a:t> </a:t>
            </a:r>
            <a:r>
              <a:rPr dirty="0" err="1"/>
              <a:t>platformaga</a:t>
            </a:r>
            <a:r>
              <a:rPr dirty="0"/>
              <a:t> </a:t>
            </a:r>
            <a:r>
              <a:rPr dirty="0" err="1"/>
              <a:t>yig'amiz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578</Words>
  <Application>Microsoft Office PowerPoint</Application>
  <PresentationFormat>Широкоэкранный</PresentationFormat>
  <Paragraphs>120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Abdulloh Tursunaliyev</cp:lastModifiedBy>
  <cp:revision>4</cp:revision>
  <dcterms:created xsi:type="dcterms:W3CDTF">2013-01-27T09:14:16Z</dcterms:created>
  <dcterms:modified xsi:type="dcterms:W3CDTF">2026-04-06T10:36:28Z</dcterms:modified>
  <cp:category/>
</cp:coreProperties>
</file>